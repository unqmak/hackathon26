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BB596B0-BA26-4D81-B002-BB0589CA1A47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C170FC-9F21-43DD-A814-2A37216E1A4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B6A7EF-AEA4-444B-8853-25F8CA8C2E2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65E3A4B-81C9-47EF-8083-AAAA5FE497FC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ＭＳ Ｐゴシック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ED2B4AB-D6C5-4F9C-AAA9-ACD7D8D2980C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ＭＳ Ｐゴシック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1C4B774-49A7-4820-8658-4853F4CDBC13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ＭＳ Ｐゴシック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7F0054A-8F31-40FC-99A8-5884D39EFBF6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ＭＳ Ｐゴシック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E43D709-9438-4E06-9555-263A089F8E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C13E427-BF0C-4257-840D-040CEDF73C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9AAB66A-BCF3-4CCF-B2B3-38A175E22F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30A4CCE-CA8D-4F95-B031-78B720E2EA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2A2F1F5-2130-425C-A1AF-87C7138E8D3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5354280" cy="502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095480"/>
            <a:ext cx="5354280" cy="502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CB91DC3-8269-45C3-86BA-F25D3B2798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4030E11C-33DD-4774-A059-0A0513AEF7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359EA091-27D9-4266-BAC3-4E0E3E6F5BE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F0BBE227-CE76-4EE2-99E7-C975B1F063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B0B753A3-1247-4BEF-A58B-3AFE5A5F73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FB6BBEB7-9907-439F-AC21-1B212AEF332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176F86A-54A0-4A0A-9141-F1129B62A1C1}" type="slidenum"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7027678-E409-4D23-81BB-579826C04546}" type="slidenum"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59D7A32-9AD0-4A6F-BCFD-931EBC82135E}" type="slidenum"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DA26866-9E38-4D79-92AB-2D6358588418}" type="slidenum"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3549CDE-AB06-457C-8565-E91EFFEADEB6}" type="slidenum"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5353920" cy="502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095480"/>
            <a:ext cx="5353920" cy="502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E5046AC-5463-4406-A176-CAA4A67B626D}" type="slidenum"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184A541-3FE1-4CE7-BAC7-85C62F3D5369}" type="slidenum"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6A125A6-50F5-44E1-AE96-97F0A47EF094}" type="slidenum"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2AAFB62-1C50-42B8-AF76-E28AAFD9CAD0}" type="slidenum"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F786ED9-6CF6-4911-A926-54455549656D}" type="slidenum"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01E26C6-8147-4A1B-A690-24E72B344482}" type="slidenum">
              <a:rPr b="0" lang="en-US" sz="1200" spc="-1" strike="noStrike">
                <a:solidFill>
                  <a:srgbClr val="898989"/>
                </a:solidFill>
                <a:latin typeface="TradeGothic"/>
                <a:ea typeface="ＭＳ Ｐゴシック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3880" y="0"/>
            <a:ext cx="914328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56" name="Freeform: Shap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56680" y="851400"/>
            <a:ext cx="4637880" cy="5154120"/>
          </a:xfrm>
          <a:custGeom>
            <a:avLst/>
            <a:gdLst>
              <a:gd name="textAreaLeft" fmla="*/ 0 w 4637880"/>
              <a:gd name="textAreaRight" fmla="*/ 4638600 w 4637880"/>
              <a:gd name="textAreaTop" fmla="*/ 0 h 5154120"/>
              <a:gd name="textAreaBottom" fmla="*/ 5154840 h 5154120"/>
            </a:gdLst>
            <a:ahLst/>
            <a:rect l="textAreaLeft" t="textAreaTop" r="textAreaRight" b="textAreaBottom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1245600" y="648720"/>
            <a:ext cx="8533800" cy="1751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algn="ctr" defTabSz="4572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Times New Roman"/>
                <a:ea typeface="ＭＳ Ｐゴシック"/>
              </a:rPr>
              <a:t>TITLE PAGE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title"/>
          </p:nvPr>
        </p:nvSpPr>
        <p:spPr>
          <a:xfrm>
            <a:off x="331200" y="-526680"/>
            <a:ext cx="10362600" cy="2075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chemeClr val="dk2"/>
                </a:solidFill>
                <a:latin typeface="Garamond"/>
                <a:ea typeface="ＭＳ Ｐゴシック"/>
              </a:rPr>
              <a:t>“</a:t>
            </a:r>
            <a:r>
              <a:rPr b="1" lang="en-US" sz="4000" spc="-1" strike="noStrike">
                <a:solidFill>
                  <a:schemeClr val="dk2"/>
                </a:solidFill>
                <a:latin typeface="Garamond"/>
                <a:ea typeface="ＭＳ Ｐゴシック"/>
              </a:rPr>
              <a:t>SAMVED” HACKATHON 2026</a:t>
            </a:r>
            <a:endParaRPr b="0" lang="en-IN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9"/>
          <p:cNvSpPr/>
          <p:nvPr/>
        </p:nvSpPr>
        <p:spPr>
          <a:xfrm>
            <a:off x="331200" y="2076480"/>
            <a:ext cx="5923800" cy="40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  <a:ea typeface="ＭＳ Ｐゴシック"/>
              </a:rPr>
              <a:t>Problem Statement ID –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  <a:ea typeface="ＭＳ Ｐゴシック"/>
              </a:rPr>
              <a:t>Problem Statement Title-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  <a:ea typeface="ＭＳ Ｐゴシック"/>
              </a:rPr>
              <a:t>Theme-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  <a:ea typeface="ＭＳ Ｐゴシック"/>
              </a:rPr>
              <a:t>Team ID-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  <a:ea typeface="ＭＳ Ｐゴシック"/>
              </a:rPr>
              <a:t>Team Name (Registered on portal)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" name="" descr=""/>
          <p:cNvPicPr/>
          <p:nvPr/>
        </p:nvPicPr>
        <p:blipFill>
          <a:blip r:embed="rId1"/>
          <a:stretch/>
        </p:blipFill>
        <p:spPr>
          <a:xfrm>
            <a:off x="8640000" y="1373040"/>
            <a:ext cx="3420000" cy="1326960"/>
          </a:xfrm>
          <a:prstGeom prst="rect">
            <a:avLst/>
          </a:prstGeom>
          <a:ln w="0">
            <a:noFill/>
          </a:ln>
        </p:spPr>
      </p:pic>
      <p:pic>
        <p:nvPicPr>
          <p:cNvPr id="61" name="" descr=""/>
          <p:cNvPicPr/>
          <p:nvPr/>
        </p:nvPicPr>
        <p:blipFill>
          <a:blip r:embed="rId2"/>
          <a:stretch/>
        </p:blipFill>
        <p:spPr>
          <a:xfrm>
            <a:off x="8733240" y="3420000"/>
            <a:ext cx="3099960" cy="12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8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82880" y="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br>
              <a:rPr sz="2800"/>
            </a:br>
            <a:r>
              <a:rPr b="1" lang="en-US" sz="2800" spc="-1" strike="noStrike">
                <a:solidFill>
                  <a:schemeClr val="dk1"/>
                </a:solidFill>
                <a:latin typeface="Times New Roman"/>
                <a:ea typeface="ＭＳ Ｐゴシック"/>
              </a:rPr>
              <a:t>IDEA TITLE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Box 8"/>
          <p:cNvSpPr/>
          <p:nvPr/>
        </p:nvSpPr>
        <p:spPr>
          <a:xfrm>
            <a:off x="0" y="2064960"/>
            <a:ext cx="12191400" cy="24681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457200">
              <a:lnSpc>
                <a:spcPct val="100000"/>
              </a:lnSpc>
              <a:buClr>
                <a:srgbClr val="1f497d"/>
              </a:buClr>
              <a:buFont typeface="Wingdings" charset="2"/>
              <a:buChar char=""/>
            </a:pPr>
            <a:r>
              <a:rPr b="1" lang="en-US" sz="3200" spc="-1" strike="noStrike" u="sng">
                <a:solidFill>
                  <a:schemeClr val="dk2"/>
                </a:solidFill>
                <a:uFillTx/>
                <a:latin typeface="Arial"/>
                <a:ea typeface="ＭＳ Ｐゴシック"/>
              </a:rPr>
              <a:t>Proposed Solution (Describe your Idea/Solution/Prototype)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  <a:ea typeface="ＭＳ Ｐゴシック"/>
              </a:rPr>
              <a:t>Detailed explanation of the proposed solution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  <a:ea typeface="ＭＳ Ｐゴシック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Arial"/>
                <a:ea typeface="ＭＳ Ｐゴシック"/>
              </a:rPr>
              <a:t>How it addresses the problem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  <a:ea typeface="ＭＳ Ｐゴシック"/>
              </a:rPr>
              <a:t>Innovation and uniqueness of the solution 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ldNum" idx="37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1" lang="en-US" sz="1200" spc="-1" strike="noStrike">
                <a:solidFill>
                  <a:schemeClr val="lt1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4B43EC6-6A2F-4FEF-B416-2BF9BFF0B0D0}" type="slidenum">
              <a:rPr b="1" lang="en-US" sz="1200" spc="-1" strike="noStrike">
                <a:solidFill>
                  <a:schemeClr val="lt1"/>
                </a:solidFill>
                <a:latin typeface="TradeGothic"/>
                <a:ea typeface="ＭＳ Ｐゴシック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Oval 9"/>
          <p:cNvSpPr/>
          <p:nvPr/>
        </p:nvSpPr>
        <p:spPr>
          <a:xfrm>
            <a:off x="329760" y="252360"/>
            <a:ext cx="125100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ＭＳ Ｐゴシック"/>
              </a:rPr>
              <a:t>Your Team Name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68" name="" descr=""/>
          <p:cNvPicPr/>
          <p:nvPr/>
        </p:nvPicPr>
        <p:blipFill>
          <a:blip r:embed="rId2"/>
          <a:stretch/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-1072080" y="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Times New Roman"/>
                <a:ea typeface="ＭＳ Ｐゴシック"/>
              </a:rPr>
              <a:t>TECHNICAL APPROACH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8"/>
          <p:cNvSpPr/>
          <p:nvPr/>
        </p:nvSpPr>
        <p:spPr>
          <a:xfrm>
            <a:off x="609480" y="2533680"/>
            <a:ext cx="9384480" cy="17974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  <a:ea typeface="ＭＳ Ｐゴシック"/>
              </a:rPr>
              <a:t>Technologies to be used (e.g. programming languages, frameworks, hardware)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  <a:ea typeface="ＭＳ Ｐゴシック"/>
              </a:rPr>
              <a:t>Methodology and process for implementation (Flow Charts/Images/ working prototype)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ldNum" idx="38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1" lang="en-US" sz="1200" spc="-1" strike="noStrike">
                <a:solidFill>
                  <a:schemeClr val="lt1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897DFA0-2B89-4689-95EA-35970505E89A}" type="slidenum">
              <a:rPr b="1" lang="en-US" sz="1200" spc="-1" strike="noStrike">
                <a:solidFill>
                  <a:schemeClr val="lt1"/>
                </a:solidFill>
                <a:latin typeface="TradeGothic"/>
                <a:ea typeface="ＭＳ Ｐゴシック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Oval 10"/>
          <p:cNvSpPr/>
          <p:nvPr/>
        </p:nvSpPr>
        <p:spPr>
          <a:xfrm>
            <a:off x="329760" y="252360"/>
            <a:ext cx="125100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ＭＳ Ｐゴシック"/>
              </a:rPr>
              <a:t>Your Team Name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10080000" y="14400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75" name="" descr=""/>
          <p:cNvPicPr/>
          <p:nvPr/>
        </p:nvPicPr>
        <p:blipFill>
          <a:blip r:embed="rId2"/>
          <a:stretch/>
        </p:blipFill>
        <p:spPr>
          <a:xfrm>
            <a:off x="8280000" y="108000"/>
            <a:ext cx="1716120" cy="69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953735"/>
              </a:solidFill>
              <a:latin typeface="Calibri"/>
              <a:ea typeface="ＭＳ Ｐゴシック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20000" y="-62280"/>
            <a:ext cx="8820000" cy="1142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Times New Roman"/>
                <a:ea typeface="ＭＳ Ｐゴシック"/>
              </a:rPr>
              <a:t>FEASIBILITY AND VIABILITY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8"/>
          <p:cNvSpPr/>
          <p:nvPr/>
        </p:nvSpPr>
        <p:spPr>
          <a:xfrm>
            <a:off x="609480" y="2533680"/>
            <a:ext cx="9384480" cy="13705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Analysis of the feasibility of the idea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Potential challenges and risks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Strategies for overcoming these challenges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ldNum" idx="39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1" lang="en-US" sz="1200" spc="-1" strike="noStrike">
                <a:solidFill>
                  <a:srgbClr val="ffffff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C2B4984-A851-437F-9FF6-020B4ADC801A}" type="slidenum">
              <a:rPr b="1" lang="en-US" sz="1200" spc="-1" strike="noStrike">
                <a:solidFill>
                  <a:srgbClr val="ffffff"/>
                </a:solidFill>
                <a:latin typeface="TradeGothic"/>
                <a:ea typeface="ＭＳ Ｐゴシック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Oval 11"/>
          <p:cNvSpPr/>
          <p:nvPr/>
        </p:nvSpPr>
        <p:spPr>
          <a:xfrm>
            <a:off x="329760" y="252360"/>
            <a:ext cx="125100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ＭＳ Ｐゴシック"/>
              </a:rPr>
              <a:t>Your Team Name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" descr=""/>
          <p:cNvPicPr/>
          <p:nvPr/>
        </p:nvPicPr>
        <p:blipFill>
          <a:blip r:embed="rId1"/>
          <a:stretch/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82" name="" descr=""/>
          <p:cNvPicPr/>
          <p:nvPr/>
        </p:nvPicPr>
        <p:blipFill>
          <a:blip r:embed="rId2"/>
          <a:stretch/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953735"/>
              </a:solidFill>
              <a:latin typeface="Calibri"/>
              <a:ea typeface="ＭＳ Ｐゴシック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Times New Roman"/>
                <a:ea typeface="ＭＳ Ｐゴシック"/>
              </a:rPr>
              <a:t>IMPACT AND BENEFITS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609480" y="2533680"/>
            <a:ext cx="9384480" cy="13705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Potential impact on the target audience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Benefits of the solution (social, economic, environmental, etc.)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40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1" lang="en-US" sz="1200" spc="-1" strike="noStrike">
                <a:solidFill>
                  <a:srgbClr val="ffffff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69EEA44-DB6D-4734-8EBF-8D8B568EA8BC}" type="slidenum">
              <a:rPr b="1" lang="en-US" sz="1200" spc="-1" strike="noStrike">
                <a:solidFill>
                  <a:srgbClr val="ffffff"/>
                </a:solidFill>
                <a:latin typeface="TradeGothic"/>
                <a:ea typeface="ＭＳ Ｐゴシック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Oval 11"/>
          <p:cNvSpPr/>
          <p:nvPr/>
        </p:nvSpPr>
        <p:spPr>
          <a:xfrm>
            <a:off x="329760" y="252360"/>
            <a:ext cx="125100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ＭＳ Ｐゴシック"/>
              </a:rPr>
              <a:t>Your Team Name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89" name="" descr=""/>
          <p:cNvPicPr/>
          <p:nvPr/>
        </p:nvPicPr>
        <p:blipFill>
          <a:blip r:embed="rId2"/>
          <a:stretch/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953735"/>
              </a:solidFill>
              <a:latin typeface="Calibri"/>
              <a:ea typeface="ＭＳ Ｐゴシック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-540000" y="-18000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Times New Roman"/>
                <a:ea typeface="ＭＳ Ｐゴシック"/>
              </a:rPr>
              <a:t>RESEARCH  AND REFERENCES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8"/>
          <p:cNvSpPr/>
          <p:nvPr/>
        </p:nvSpPr>
        <p:spPr>
          <a:xfrm>
            <a:off x="609480" y="2795400"/>
            <a:ext cx="9384480" cy="5166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Details / Links of the reference and research work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ldNum" idx="4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1" lang="en-US" sz="1200" spc="-1" strike="noStrike">
                <a:solidFill>
                  <a:srgbClr val="ffffff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072BBF3-5608-46E8-875A-9E3D66DF137E}" type="slidenum">
              <a:rPr b="1" lang="en-US" sz="1200" spc="-1" strike="noStrike">
                <a:solidFill>
                  <a:srgbClr val="ffffff"/>
                </a:solidFill>
                <a:latin typeface="TradeGothic"/>
                <a:ea typeface="ＭＳ Ｐゴシック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Oval 8"/>
          <p:cNvSpPr/>
          <p:nvPr/>
        </p:nvSpPr>
        <p:spPr>
          <a:xfrm>
            <a:off x="329760" y="252360"/>
            <a:ext cx="125100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ＭＳ Ｐゴシック"/>
              </a:rPr>
              <a:t>Your Team Name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96" name="" descr=""/>
          <p:cNvPicPr/>
          <p:nvPr/>
        </p:nvPicPr>
        <p:blipFill>
          <a:blip r:embed="rId2"/>
          <a:stretch/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953735"/>
              </a:solidFill>
              <a:latin typeface="Calibri"/>
              <a:ea typeface="ＭＳ Ｐゴシック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sldNum" idx="4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1" lang="en-US" sz="1200" spc="-1" strike="noStrike">
                <a:solidFill>
                  <a:srgbClr val="ffffff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04BA71C-05FB-406B-BB57-8C17CD71E019}" type="slidenum">
              <a:rPr b="1" lang="en-US" sz="1200" spc="-1" strike="noStrike">
                <a:solidFill>
                  <a:srgbClr val="ffffff"/>
                </a:solidFill>
                <a:latin typeface="TradeGothic"/>
                <a:ea typeface="ＭＳ Ｐゴシック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Round Diagonal Corner Rectangle 2"/>
          <p:cNvSpPr/>
          <p:nvPr/>
        </p:nvSpPr>
        <p:spPr>
          <a:xfrm>
            <a:off x="0" y="1791000"/>
            <a:ext cx="12191400" cy="431856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367920" y="1915560"/>
            <a:ext cx="11764080" cy="40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514440" indent="-514440" algn="just" defTabSz="457200">
              <a:lnSpc>
                <a:spcPct val="9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Calibri"/>
              </a:rPr>
              <a:t>Kindly keep the maximum slides limit up to six </a:t>
            </a:r>
            <a:r>
              <a:rPr b="1" lang="en-US" sz="1800" spc="-1" strike="noStrike">
                <a:solidFill>
                  <a:srgbClr val="c00000"/>
                </a:solidFill>
                <a:latin typeface="Arial"/>
                <a:ea typeface="Calibri"/>
              </a:rPr>
              <a:t>(6). </a:t>
            </a:r>
            <a:r>
              <a:rPr b="1" lang="en-US" sz="1800" spc="-1" strike="noStrike">
                <a:solidFill>
                  <a:schemeClr val="dk1"/>
                </a:solidFill>
                <a:latin typeface="Arial"/>
                <a:ea typeface="Calibri"/>
              </a:rPr>
              <a:t>( Including the title slide)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514440" indent="-514440" algn="just" defTabSz="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AutoNum type="arabicPeriod"/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Calibri"/>
              </a:rPr>
              <a:t>Try to avoid paragraphs and post your idea in points /diagrams / Infographics /pictures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514440" indent="-514440" algn="just" defTabSz="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AutoNum type="arabicPeriod"/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Calibri"/>
              </a:rPr>
              <a:t>Keep your explanation precise and easy to understand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514440" indent="-514440" algn="just" defTabSz="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AutoNum type="arabicPeriod"/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Calibri"/>
              </a:rPr>
              <a:t>Idea should be unique and novel.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514440" indent="-514440" algn="just" defTabSz="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AutoNum type="arabicPeriod"/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Calibri"/>
              </a:rPr>
              <a:t>You can only use provided template for making the PPT without changing the idea details pointers (mentioned in previous slides).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514440" indent="-514440" algn="just" defTabSz="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"/>
              <a:buAutoNum type="arabicPeriod"/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Calibri"/>
              </a:rPr>
              <a:t>You need to save the file in PDF and upload the same on portal. No PPT, Word Doc or any other format will be supported.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514440" indent="-349920" algn="just" defTabSz="4572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514440" algn="just" defTabSz="4572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1800" spc="-1" strike="noStrike">
                <a:solidFill>
                  <a:srgbClr val="c00000"/>
                </a:solidFill>
                <a:latin typeface="Arial"/>
                <a:ea typeface="Calibri"/>
              </a:rPr>
              <a:t>Note - You can delete this slide (Important Pointers) when you upload the details of your idea on SIH portal.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914400" indent="-316080" algn="just" defTabSz="4572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3"/>
          <p:cNvSpPr/>
          <p:nvPr/>
        </p:nvSpPr>
        <p:spPr>
          <a:xfrm>
            <a:off x="1080000" y="261720"/>
            <a:ext cx="6840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chemeClr val="dk1"/>
                </a:solidFill>
                <a:latin typeface="Times New Roman"/>
                <a:ea typeface="ＭＳ Ｐゴシック"/>
              </a:rPr>
              <a:t>IMPORTANT INSTRUCTIONS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602280" y="1181880"/>
            <a:ext cx="955692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457200">
              <a:lnSpc>
                <a:spcPct val="90000"/>
              </a:lnSpc>
              <a:spcBef>
                <a:spcPts val="1001"/>
              </a:spcBef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Calibri"/>
              </a:rPr>
              <a:t>Please ensure below pointers are met while submitting the Idea PPT: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104" name="" descr=""/>
          <p:cNvPicPr/>
          <p:nvPr/>
        </p:nvPicPr>
        <p:blipFill>
          <a:blip r:embed="rId2"/>
          <a:stretch/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7495</TotalTime>
  <Application>LibreOffice/24.2.7.2$Linux_X86_64 LibreOffice_project/420$Build-2</Application>
  <AppVersion>15.0000</AppVersion>
  <Words>325</Words>
  <Paragraphs>62</Paragraphs>
  <Company>Crowdfunder, Inc.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  <dc:description/>
  <dc:language>en-IN</dc:language>
  <cp:lastModifiedBy/>
  <dcterms:modified xsi:type="dcterms:W3CDTF">2026-01-13T13:04:11Z</dcterms:modified>
  <cp:revision>150</cp:revision>
  <dc:subject/>
  <dc:title>Investor Pitch Deck Template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Widescreen</vt:lpwstr>
  </property>
  <property fmtid="{D5CDD505-2E9C-101B-9397-08002B2CF9AE}" pid="4" name="Slides">
    <vt:i4>7</vt:i4>
  </property>
</Properties>
</file>